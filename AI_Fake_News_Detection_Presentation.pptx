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1">
                <a:solidFill>
                  <a:srgbClr val="3B82F6"/>
                </a:solidFill>
                <a:latin typeface="Arial"/>
              </a:defRPr>
            </a:pPr>
            <a:r>
              <a:t>PROJECT 1: SUMMER INTERNSHIP PROGRAM IN AI &amp; ML 2026</a:t>
            </a:r>
          </a:p>
          <a:p>
            <a:pPr>
              <a:spcAft>
                <a:spcPts val="250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AI-Powered Fake News Detection</a:t>
            </a:r>
            <a:br/>
            <a:r>
              <a:t>Using Text Classification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Indian Institute of Computing and Technology (IICT)</a:t>
            </a:r>
            <a:br/>
            <a:r>
              <a:t>Affiliated: I-STEM, Office of the Principal Scientific Adviser to the Government of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AI &amp; ML SUMMER INTERNSHIP PROGRAM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Problem Statement &amp; Internship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Problem Statement: </a:t>
            </a:r>
            <a:r>
              <a:rPr sz="1500">
                <a:solidFill>
                  <a:srgbClr val="1E293B"/>
                </a:solidFill>
              </a:rPr>
              <a:t>Build an end-to-end machine learning pipeline from scratch to classify news articles as Real or Fake without relying on pre-built turn-key wrappers.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Motivation: </a:t>
            </a:r>
            <a:r>
              <a:rPr sz="1500">
                <a:solidFill>
                  <a:srgbClr val="1E293B"/>
                </a:solidFill>
              </a:rPr>
              <a:t>Digital media proliferation enables fake news to spread exponentially. Automated NLP models offer scalable, real-time verification to prevent public deception.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30-Day Workflow: </a:t>
            </a:r>
            <a:r>
              <a:rPr sz="1500">
                <a:solidFill>
                  <a:srgbClr val="1E293B"/>
                </a:solidFill>
              </a:rPr>
              <a:t>Structured across 4 weeks: Data Collection &amp; Cleaning (Week 1), Feature Engineering &amp; TF-IDF (Week 2), Model Building (Week 3), Evaluation &amp; IEEE Report (Week 4).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Key Requirements: </a:t>
            </a:r>
            <a:r>
              <a:rPr sz="1500">
                <a:solidFill>
                  <a:srgbClr val="1E293B"/>
                </a:solidFill>
              </a:rPr>
              <a:t>Implement 4 distinct models: KNN (Non-Parametric), Logistic Regression (Parametric), Random Forest (Ensemble), and Simple Neural Network (MLP).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AI &amp; ML SUMMER INTERNSHIP PROGRAM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Dataset Overview &amp; Class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Dataset Source: </a:t>
            </a:r>
            <a:r>
              <a:rPr sz="1500">
                <a:solidFill>
                  <a:srgbClr val="1E293B"/>
                </a:solidFill>
              </a:rPr>
              <a:t>Kaggle Fake and Real News Dataset (comprising 39,999 total news articles).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Class Balance: </a:t>
            </a:r>
            <a:r>
              <a:rPr sz="1500">
                <a:solidFill>
                  <a:srgbClr val="1E293B"/>
                </a:solidFill>
              </a:rPr>
              <a:t>Fake News: 20,886 articles (52.2%) | Real News: 19,113 articles (47.8%).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Attributes Extracted: </a:t>
            </a:r>
            <a:r>
              <a:rPr sz="1500">
                <a:solidFill>
                  <a:srgbClr val="1E293B"/>
                </a:solidFill>
              </a:rPr>
              <a:t>index, title (headline), text (body), subject, date, and label (target).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Key Structural Findings: </a:t>
            </a:r>
            <a:r>
              <a:rPr sz="1500">
                <a:solidFill>
                  <a:srgbClr val="1E293B"/>
                </a:solidFill>
              </a:rPr>
              <a:t>Real articles frequently contain news agency markers (e.g. 'WASHINGTON (Reuters) -'), while Fake articles display all-caps clickbait titles and emotional rhetoric.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AI &amp; ML SUMMER INTERNSHIP PROGRAM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Week 1 &amp; 2: Text Cleaning &amp; TF-IDF Vectorization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Agency Normalization: </a:t>
            </a:r>
            <a:r>
              <a:rPr sz="1500">
                <a:solidFill>
                  <a:srgbClr val="1E293B"/>
                </a:solidFill>
              </a:rPr>
              <a:t>Removed static agency prefixes (e.g., 'WASHINGTON (Reuters) -') to prevent shortcut bias.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Text Sanitization: </a:t>
            </a:r>
            <a:r>
              <a:rPr sz="1500">
                <a:solidFill>
                  <a:srgbClr val="1E293B"/>
                </a:solidFill>
              </a:rPr>
              <a:t>Converted text to lowercase and stripped punctuation/special characters using Regex pattern [^a-z\s].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Manual Tokenization: </a:t>
            </a:r>
            <a:r>
              <a:rPr sz="1500">
                <a:solidFill>
                  <a:srgbClr val="1E293B"/>
                </a:solidFill>
              </a:rPr>
              <a:t>Split text streams into clean word tokens and removed non-informative English stop-words via NLTK.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TF-IDF Vectorization: </a:t>
            </a:r>
            <a:r>
              <a:rPr sz="1500">
                <a:solidFill>
                  <a:srgbClr val="1E293B"/>
                </a:solidFill>
              </a:rPr>
              <a:t>Extracted Unigrams + Bigrams (10,000 max features) using Sublinear TF scaling: TF-IDF(t, d) = TF(t, d) * IDF(t, 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AI &amp; ML SUMMER INTERNSHIP PROGRAM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Week 3: Algorithm Implementation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K-Nearest Neighbors (KNN): </a:t>
            </a:r>
            <a:r>
              <a:rPr sz="1500">
                <a:solidFill>
                  <a:srgbClr val="1E293B"/>
                </a:solidFill>
              </a:rPr>
              <a:t>Non-parametric distance-based classifier evaluating k=5 nearest neighbors via Euclidean/Cosine distance.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Logistic Regression: </a:t>
            </a:r>
            <a:r>
              <a:rPr sz="1500">
                <a:solidFill>
                  <a:srgbClr val="1E293B"/>
                </a:solidFill>
              </a:rPr>
              <a:t>Parametric linear classifier modeling log-odds using sigmoid activation function.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Random Forest Classifier: </a:t>
            </a:r>
            <a:r>
              <a:rPr sz="1500">
                <a:solidFill>
                  <a:srgbClr val="1E293B"/>
                </a:solidFill>
              </a:rPr>
              <a:t>Ensemble bagging model combining 100 de-correlated decision trees with random feature subsampling.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Simple Neural Network (MLP): </a:t>
            </a:r>
            <a:r>
              <a:rPr sz="1500">
                <a:solidFill>
                  <a:srgbClr val="1E293B"/>
                </a:solidFill>
              </a:rPr>
              <a:t>Multi-Layer Perceptron containing 100 hidden neurons, ReLU activation, and Adam optimizer.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AI &amp; ML SUMMER INTERNSHIP PROGRAM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Week 4: Experimental Results &amp; IEEE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82296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Model Type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F1-Score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Non-Parametric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76.46%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91.00%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70.00%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Parametric 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98.67%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98.00%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99.00%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Neural Network (MLP)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99.09%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99.00%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99.00%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B981"/>
                          </a:solidFill>
                          <a:latin typeface="Arial"/>
                        </a:rPr>
                        <a:t>Random Forest (Winner)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B981"/>
                          </a:solidFill>
                          <a:latin typeface="Arial"/>
                        </a:rPr>
                        <a:t>Ensemble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B981"/>
                          </a:solidFill>
                          <a:latin typeface="Arial"/>
                        </a:rPr>
                        <a:t>99.72%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B981"/>
                          </a:solidFill>
                          <a:latin typeface="Arial"/>
                        </a:rP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0B981"/>
                          </a:solidFill>
                          <a:latin typeface="Arial"/>
                        </a:rPr>
                        <a:t>100.00%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AI &amp; ML SUMMER INTERNSHIP PROGRAM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Discussion: Model Performance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Parametric Efficiency: </a:t>
            </a:r>
            <a:r>
              <a:rPr sz="1500">
                <a:solidFill>
                  <a:srgbClr val="1E293B"/>
                </a:solidFill>
              </a:rPr>
              <a:t>Logistic Regression (98.67%) trained in &lt; 2 seconds, proving linear decision boundaries thrive in high-dimensional sparse TF-IDF text vector spaces.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Non-Parametric Degradation: </a:t>
            </a:r>
            <a:r>
              <a:rPr sz="1500">
                <a:solidFill>
                  <a:srgbClr val="1E293B"/>
                </a:solidFill>
              </a:rPr>
              <a:t>KNN achieved the lowest accuracy (76.46%) due to the 'Curse of Dimensionality', where Euclidean distance metrics become uniform and noisy in 5,000D space.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Ensemble Dominance: </a:t>
            </a:r>
            <a:r>
              <a:rPr sz="1500">
                <a:solidFill>
                  <a:srgbClr val="1E293B"/>
                </a:solidFill>
              </a:rPr>
              <a:t>Random Forest achieved top accuracy (99.72%) because combining 100 decision trees effectively cancels out individual tree variance and prevents term overfitting.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Verification Test Suite: </a:t>
            </a:r>
            <a:r>
              <a:rPr sz="1500">
                <a:solidFill>
                  <a:srgbClr val="1E293B"/>
                </a:solidFill>
              </a:rPr>
              <a:t>Achieved 100% verification accuracy (30/30 passed) on sampled Real vs Fake dataset test cases.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AI &amp; ML SUMMER INTERNSHIP PROGRAM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Core Takeaway: </a:t>
            </a:r>
            <a:r>
              <a:rPr sz="1500">
                <a:solidFill>
                  <a:srgbClr val="1E293B"/>
                </a:solidFill>
              </a:rPr>
              <a:t>Text preprocessing combined with TF-IDF vectorization and Random Forest ensemble learning delivers state-of-the-art fake news classification.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Deployments Built: </a:t>
            </a:r>
            <a:r>
              <a:rPr sz="1500">
                <a:solidFill>
                  <a:srgbClr val="1E293B"/>
                </a:solidFill>
              </a:rPr>
              <a:t>Built a full modular Python codebase, a real-time prediction CLI, and an interactive web dashboard (http://localhost:3000).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Project Limitations: </a:t>
            </a:r>
            <a:r>
              <a:rPr sz="1500">
                <a:solidFill>
                  <a:srgbClr val="1E293B"/>
                </a:solidFill>
              </a:rPr>
              <a:t>Potential performance decay on newly emerging topics outside the 2016-2017 political training corpus.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E3A8A"/>
                </a:solidFill>
              </a:rPr>
              <a:t>• Future Scope: </a:t>
            </a:r>
            <a:r>
              <a:rPr sz="1500">
                <a:solidFill>
                  <a:srgbClr val="1E293B"/>
                </a:solidFill>
              </a:rPr>
              <a:t>Integration of Pre-trained Transformer Architectures (BERT, RoBERTa, LLMs) and multimodal graph propagation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